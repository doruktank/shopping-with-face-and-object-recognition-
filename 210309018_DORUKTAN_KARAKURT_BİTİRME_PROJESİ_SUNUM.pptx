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Montserrat Bold" charset="1" panose="00000800000000000000"/>
      <p:regular r:id="rId21"/>
    </p:embeddedFont>
    <p:embeddedFont>
      <p:font typeface="Montserrat Light" charset="1" panose="00000400000000000000"/>
      <p:regular r:id="rId22"/>
    </p:embeddedFont>
    <p:embeddedFont>
      <p:font typeface="Montserrat" charset="1" panose="000005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pn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9.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Freeform 2" id="2"/>
          <p:cNvSpPr/>
          <p:nvPr/>
        </p:nvSpPr>
        <p:spPr>
          <a:xfrm flipH="false" flipV="true" rot="0">
            <a:off x="-288351" y="-696459"/>
            <a:ext cx="4309648" cy="5486820"/>
          </a:xfrm>
          <a:custGeom>
            <a:avLst/>
            <a:gdLst/>
            <a:ahLst/>
            <a:cxnLst/>
            <a:rect r="r" b="b" t="t" l="l"/>
            <a:pathLst>
              <a:path h="5486820" w="4309648">
                <a:moveTo>
                  <a:pt x="0" y="5486821"/>
                </a:moveTo>
                <a:lnTo>
                  <a:pt x="4309648" y="5486821"/>
                </a:lnTo>
                <a:lnTo>
                  <a:pt x="4309648" y="0"/>
                </a:lnTo>
                <a:lnTo>
                  <a:pt x="0" y="0"/>
                </a:lnTo>
                <a:lnTo>
                  <a:pt x="0" y="5486821"/>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187047" y="5356615"/>
            <a:ext cx="9075816" cy="9075816"/>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033F63"/>
            </a:solidFill>
            <a:ln w="12700">
              <a:solidFill>
                <a:srgbClr val="000000"/>
              </a:solidFill>
            </a:ln>
          </p:spPr>
        </p:sp>
      </p:grpSp>
      <p:grpSp>
        <p:nvGrpSpPr>
          <p:cNvPr name="Group 5" id="5"/>
          <p:cNvGrpSpPr/>
          <p:nvPr/>
        </p:nvGrpSpPr>
        <p:grpSpPr>
          <a:xfrm rot="0">
            <a:off x="11060374" y="458014"/>
            <a:ext cx="9075816" cy="907581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033F63"/>
            </a:solidFill>
            <a:ln w="12700">
              <a:solidFill>
                <a:srgbClr val="000000"/>
              </a:solidFill>
            </a:ln>
          </p:spPr>
        </p:sp>
      </p:grpSp>
      <p:sp>
        <p:nvSpPr>
          <p:cNvPr name="Freeform 7" id="7"/>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265183" y="2908150"/>
            <a:ext cx="8868252" cy="3191768"/>
          </a:xfrm>
          <a:prstGeom prst="rect">
            <a:avLst/>
          </a:prstGeom>
        </p:spPr>
        <p:txBody>
          <a:bodyPr anchor="t" rtlCol="false" tIns="0" lIns="0" bIns="0" rIns="0">
            <a:spAutoFit/>
          </a:bodyPr>
          <a:lstStyle/>
          <a:p>
            <a:pPr algn="l">
              <a:lnSpc>
                <a:spcPts val="8285"/>
              </a:lnSpc>
            </a:pPr>
            <a:r>
              <a:rPr lang="en-US" sz="8285" b="true">
                <a:solidFill>
                  <a:srgbClr val="1B75BC"/>
                </a:solidFill>
                <a:latin typeface="Montserrat Bold"/>
                <a:ea typeface="Montserrat Bold"/>
                <a:cs typeface="Montserrat Bold"/>
                <a:sym typeface="Montserrat Bold"/>
              </a:rPr>
              <a:t>YÜZ VE NESNE TANIMA İLE SELF KASA</a:t>
            </a:r>
          </a:p>
        </p:txBody>
      </p:sp>
      <p:sp>
        <p:nvSpPr>
          <p:cNvPr name="TextBox 10" id="10"/>
          <p:cNvSpPr txBox="true"/>
          <p:nvPr/>
        </p:nvSpPr>
        <p:spPr>
          <a:xfrm rot="0">
            <a:off x="1265183" y="6531391"/>
            <a:ext cx="8559237" cy="1221126"/>
          </a:xfrm>
          <a:prstGeom prst="rect">
            <a:avLst/>
          </a:prstGeom>
        </p:spPr>
        <p:txBody>
          <a:bodyPr anchor="t" rtlCol="false" tIns="0" lIns="0" bIns="0" rIns="0">
            <a:spAutoFit/>
          </a:bodyPr>
          <a:lstStyle/>
          <a:p>
            <a:pPr algn="l">
              <a:lnSpc>
                <a:spcPts val="1907"/>
              </a:lnSpc>
            </a:pPr>
            <a:r>
              <a:rPr lang="en-US" b="true" sz="2415" spc="437">
                <a:solidFill>
                  <a:srgbClr val="1B75BC"/>
                </a:solidFill>
                <a:latin typeface="Montserrat Bold"/>
                <a:ea typeface="Montserrat Bold"/>
                <a:cs typeface="Montserrat Bold"/>
                <a:sym typeface="Montserrat Bold"/>
              </a:rPr>
              <a:t>HAZIRLAYAN: DORUKTAN KARAKURT</a:t>
            </a:r>
          </a:p>
          <a:p>
            <a:pPr algn="l">
              <a:lnSpc>
                <a:spcPts val="1907"/>
              </a:lnSpc>
            </a:pPr>
          </a:p>
          <a:p>
            <a:pPr algn="l">
              <a:lnSpc>
                <a:spcPts val="1907"/>
              </a:lnSpc>
            </a:pPr>
            <a:r>
              <a:rPr lang="en-US" b="true" sz="2415" spc="437">
                <a:solidFill>
                  <a:srgbClr val="1B75BC"/>
                </a:solidFill>
                <a:latin typeface="Montserrat Bold"/>
                <a:ea typeface="Montserrat Bold"/>
                <a:cs typeface="Montserrat Bold"/>
                <a:sym typeface="Montserrat Bold"/>
              </a:rPr>
              <a:t>ÖĞRENCİ NUMARASI: 210309018</a:t>
            </a:r>
          </a:p>
          <a:p>
            <a:pPr algn="l">
              <a:lnSpc>
                <a:spcPts val="1907"/>
              </a:lnSpc>
            </a:pPr>
          </a:p>
          <a:p>
            <a:pPr algn="l">
              <a:lnSpc>
                <a:spcPts val="1907"/>
              </a:lnSpc>
            </a:pPr>
            <a:r>
              <a:rPr lang="en-US" b="true" sz="2415" spc="437">
                <a:solidFill>
                  <a:srgbClr val="1B75BC"/>
                </a:solidFill>
                <a:latin typeface="Montserrat Bold"/>
                <a:ea typeface="Montserrat Bold"/>
                <a:cs typeface="Montserrat Bold"/>
                <a:sym typeface="Montserrat Bold"/>
              </a:rPr>
              <a:t>DANIŞMAN: SİBEL BİRTANE AKAR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788649" y="4406950"/>
            <a:ext cx="7355351" cy="4023504"/>
          </a:xfrm>
          <a:prstGeom prst="rect">
            <a:avLst/>
          </a:prstGeom>
        </p:spPr>
        <p:txBody>
          <a:bodyPr anchor="t" rtlCol="false" tIns="0" lIns="0" bIns="0" rIns="0">
            <a:spAutoFit/>
          </a:bodyPr>
          <a:lstStyle/>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Giriş</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Projenin Amacı</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Benzer Çalışmalar AmazonGO</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Benzer Çalışmalar BingoBox</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Kullanılan Materyal ve Yöntemler</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Arayüz ve Müşteri Ekleme Modülü</a:t>
            </a:r>
          </a:p>
          <a:p>
            <a:pPr algn="l"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Yüz Tanıma Sistemi</a:t>
            </a:r>
          </a:p>
          <a:p>
            <a:pPr algn="just">
              <a:lnSpc>
                <a:spcPts val="3155"/>
              </a:lnSpc>
            </a:pPr>
          </a:p>
        </p:txBody>
      </p:sp>
      <p:sp>
        <p:nvSpPr>
          <p:cNvPr name="TextBox 3" id="3"/>
          <p:cNvSpPr txBox="true"/>
          <p:nvPr/>
        </p:nvSpPr>
        <p:spPr>
          <a:xfrm rot="0">
            <a:off x="1959134" y="2326468"/>
            <a:ext cx="14369733" cy="1130303"/>
          </a:xfrm>
          <a:prstGeom prst="rect">
            <a:avLst/>
          </a:prstGeom>
        </p:spPr>
        <p:txBody>
          <a:bodyPr anchor="t" rtlCol="false" tIns="0" lIns="0" bIns="0" rIns="0">
            <a:spAutoFit/>
          </a:bodyPr>
          <a:lstStyle/>
          <a:p>
            <a:pPr algn="ctr">
              <a:lnSpc>
                <a:spcPts val="8500"/>
              </a:lnSpc>
            </a:pPr>
            <a:r>
              <a:rPr lang="en-US" b="true" sz="8500">
                <a:solidFill>
                  <a:srgbClr val="1B75BC"/>
                </a:solidFill>
                <a:latin typeface="Montserrat Bold"/>
                <a:ea typeface="Montserrat Bold"/>
                <a:cs typeface="Montserrat Bold"/>
                <a:sym typeface="Montserrat Bold"/>
              </a:rPr>
              <a:t>İÇERİK</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9473045" y="4416475"/>
            <a:ext cx="6403282" cy="2559093"/>
          </a:xfrm>
          <a:prstGeom prst="rect">
            <a:avLst/>
          </a:prstGeom>
        </p:spPr>
        <p:txBody>
          <a:bodyPr anchor="t" rtlCol="false" tIns="0" lIns="0" bIns="0" rIns="0">
            <a:spAutoFit/>
          </a:bodyPr>
          <a:lstStyle/>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Nesne Tanıma Sistemi</a:t>
            </a:r>
          </a:p>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Müşteri Listesi Paneli</a:t>
            </a:r>
          </a:p>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Bakiye Güncelleme Paneli</a:t>
            </a:r>
          </a:p>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Sonuç ve Öneriler</a:t>
            </a:r>
          </a:p>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Teşekkürler</a:t>
            </a:r>
          </a:p>
          <a:p>
            <a:pPr algn="just" marL="721221" indent="-360611" lvl="1">
              <a:lnSpc>
                <a:spcPts val="3340"/>
              </a:lnSpc>
              <a:buFont typeface="Arial"/>
              <a:buChar char="•"/>
            </a:pPr>
            <a:r>
              <a:rPr lang="en-US" b="true" sz="3340" spc="-73">
                <a:solidFill>
                  <a:srgbClr val="1B75BC"/>
                </a:solidFill>
                <a:latin typeface="Montserrat Bold"/>
                <a:ea typeface="Montserrat Bold"/>
                <a:cs typeface="Montserrat Bold"/>
                <a:sym typeface="Montserrat Bold"/>
              </a:rPr>
              <a:t>Soru/Cevap</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1883743"/>
            <a:ext cx="7693527" cy="1200150"/>
          </a:xfrm>
          <a:prstGeom prst="rect">
            <a:avLst/>
          </a:prstGeom>
        </p:spPr>
        <p:txBody>
          <a:bodyPr anchor="t" rtlCol="false" tIns="0" lIns="0" bIns="0" rIns="0">
            <a:spAutoFit/>
          </a:bodyPr>
          <a:lstStyle/>
          <a:p>
            <a:pPr algn="l">
              <a:lnSpc>
                <a:spcPts val="9000"/>
              </a:lnSpc>
            </a:pPr>
            <a:r>
              <a:rPr lang="en-US" sz="9000" b="true">
                <a:solidFill>
                  <a:srgbClr val="1B75BC"/>
                </a:solidFill>
                <a:latin typeface="Montserrat Bold"/>
                <a:ea typeface="Montserrat Bold"/>
                <a:cs typeface="Montserrat Bold"/>
                <a:sym typeface="Montserrat Bold"/>
              </a:rPr>
              <a:t>GİRİŞ</a:t>
            </a:r>
          </a:p>
        </p:txBody>
      </p:sp>
      <p:sp>
        <p:nvSpPr>
          <p:cNvPr name="TextBox 3" id="3"/>
          <p:cNvSpPr txBox="true"/>
          <p:nvPr/>
        </p:nvSpPr>
        <p:spPr>
          <a:xfrm rot="0">
            <a:off x="1028700" y="3531707"/>
            <a:ext cx="10031674" cy="2666024"/>
          </a:xfrm>
          <a:prstGeom prst="rect">
            <a:avLst/>
          </a:prstGeom>
        </p:spPr>
        <p:txBody>
          <a:bodyPr anchor="t" rtlCol="false" tIns="0" lIns="0" bIns="0" rIns="0">
            <a:spAutoFit/>
          </a:bodyPr>
          <a:lstStyle/>
          <a:p>
            <a:pPr algn="just">
              <a:lnSpc>
                <a:spcPts val="3024"/>
              </a:lnSpc>
            </a:pPr>
            <a:r>
              <a:rPr lang="en-US" sz="2749" spc="-206">
                <a:solidFill>
                  <a:srgbClr val="1B75BC"/>
                </a:solidFill>
                <a:latin typeface="Montserrat Light"/>
                <a:ea typeface="Montserrat Light"/>
                <a:cs typeface="Montserrat Light"/>
                <a:sym typeface="Montserrat Light"/>
              </a:rPr>
              <a:t>Günümüzde yapay zekâ tabanlı sistemlerin perakende sektöründeki yükselişi dikkat çekmektedir. Yüz tanıma ve nesne tanıma teknolojilerinin günlük yaşama entegrasyonu, alışveriş deneyimini yeniden şekillendirmektedir. Özellikle marketlerdeki kasa sistemlerinde otomasyon ihtiyacı, bu teknolojilerin kullanımını teşvik etmektedir. Bu proje, söz konusu ihtiyaca yenilikçi bir çözüm sunmak amacıyla geliştirilmiştir.</a:t>
            </a:r>
          </a:p>
        </p:txBody>
      </p:sp>
      <p:sp>
        <p:nvSpPr>
          <p:cNvPr name="Freeform 4" id="4"/>
          <p:cNvSpPr/>
          <p:nvPr/>
        </p:nvSpPr>
        <p:spPr>
          <a:xfrm flipH="false" flipV="true" rot="0">
            <a:off x="-827410" y="-273202"/>
            <a:ext cx="3119033" cy="3970991"/>
          </a:xfrm>
          <a:custGeom>
            <a:avLst/>
            <a:gdLst/>
            <a:ahLst/>
            <a:cxnLst/>
            <a:rect r="r" b="b" t="t" l="l"/>
            <a:pathLst>
              <a:path h="3970991" w="3119033">
                <a:moveTo>
                  <a:pt x="0" y="3970990"/>
                </a:moveTo>
                <a:lnTo>
                  <a:pt x="3119033" y="3970990"/>
                </a:lnTo>
                <a:lnTo>
                  <a:pt x="3119033" y="0"/>
                </a:lnTo>
                <a:lnTo>
                  <a:pt x="0" y="0"/>
                </a:lnTo>
                <a:lnTo>
                  <a:pt x="0" y="39709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2700000">
            <a:off x="8809570" y="989703"/>
            <a:ext cx="6961890" cy="1445179"/>
            <a:chOff x="0" y="0"/>
            <a:chExt cx="1833584" cy="380623"/>
          </a:xfrm>
        </p:grpSpPr>
        <p:sp>
          <p:nvSpPr>
            <p:cNvPr name="Freeform 6" id="6"/>
            <p:cNvSpPr/>
            <p:nvPr/>
          </p:nvSpPr>
          <p:spPr>
            <a:xfrm flipH="false" flipV="false" rot="0">
              <a:off x="0" y="0"/>
              <a:ext cx="1833584" cy="380623"/>
            </a:xfrm>
            <a:custGeom>
              <a:avLst/>
              <a:gdLst/>
              <a:ahLst/>
              <a:cxnLst/>
              <a:rect r="r" b="b" t="t" l="l"/>
              <a:pathLst>
                <a:path h="380623" w="1833584">
                  <a:moveTo>
                    <a:pt x="0" y="0"/>
                  </a:moveTo>
                  <a:lnTo>
                    <a:pt x="1833584" y="0"/>
                  </a:lnTo>
                  <a:lnTo>
                    <a:pt x="1833584" y="380623"/>
                  </a:lnTo>
                  <a:lnTo>
                    <a:pt x="0" y="380623"/>
                  </a:lnTo>
                  <a:close/>
                </a:path>
              </a:pathLst>
            </a:custGeom>
            <a:solidFill>
              <a:srgbClr val="033F63"/>
            </a:solidFill>
          </p:spPr>
        </p:sp>
        <p:sp>
          <p:nvSpPr>
            <p:cNvPr name="TextBox 7" id="7"/>
            <p:cNvSpPr txBox="true"/>
            <p:nvPr/>
          </p:nvSpPr>
          <p:spPr>
            <a:xfrm>
              <a:off x="0" y="28575"/>
              <a:ext cx="1833584" cy="352048"/>
            </a:xfrm>
            <a:prstGeom prst="rect">
              <a:avLst/>
            </a:prstGeom>
          </p:spPr>
          <p:txBody>
            <a:bodyPr anchor="ctr" rtlCol="false" tIns="50800" lIns="50800" bIns="50800" rIns="50800"/>
            <a:lstStyle/>
            <a:p>
              <a:pPr algn="ctr">
                <a:lnSpc>
                  <a:spcPts val="2834"/>
                </a:lnSpc>
              </a:pPr>
            </a:p>
          </p:txBody>
        </p:sp>
      </p:grpSp>
      <p:sp>
        <p:nvSpPr>
          <p:cNvPr name="Freeform 8" id="8"/>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060374" y="458014"/>
            <a:ext cx="9075816" cy="90758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DFDFD"/>
            </a:solidFill>
            <a:ln w="12700">
              <a:solidFill>
                <a:srgbClr val="000000"/>
              </a:solidFill>
            </a:ln>
          </p:spPr>
        </p:sp>
      </p:grpSp>
      <p:grpSp>
        <p:nvGrpSpPr>
          <p:cNvPr name="Group 11" id="11"/>
          <p:cNvGrpSpPr/>
          <p:nvPr/>
        </p:nvGrpSpPr>
        <p:grpSpPr>
          <a:xfrm rot="0">
            <a:off x="11327847" y="725487"/>
            <a:ext cx="8540871" cy="854087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4"/>
              <a:stretch>
                <a:fillRect l="-38888" t="0" r="-38888" b="0"/>
              </a:stretch>
            </a:blipFill>
          </p:spPr>
        </p:sp>
      </p:grpSp>
      <p:sp>
        <p:nvSpPr>
          <p:cNvPr name="Freeform 13" id="13"/>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2073006"/>
            <a:ext cx="8663302" cy="891540"/>
          </a:xfrm>
          <a:prstGeom prst="rect">
            <a:avLst/>
          </a:prstGeom>
        </p:spPr>
        <p:txBody>
          <a:bodyPr anchor="t" rtlCol="false" tIns="0" lIns="0" bIns="0" rIns="0">
            <a:spAutoFit/>
          </a:bodyPr>
          <a:lstStyle/>
          <a:p>
            <a:pPr algn="l">
              <a:lnSpc>
                <a:spcPts val="6600"/>
              </a:lnSpc>
            </a:pPr>
            <a:r>
              <a:rPr lang="en-US" sz="6600" b="true">
                <a:solidFill>
                  <a:srgbClr val="1B75BC"/>
                </a:solidFill>
                <a:latin typeface="Montserrat Bold"/>
                <a:ea typeface="Montserrat Bold"/>
                <a:cs typeface="Montserrat Bold"/>
                <a:sym typeface="Montserrat Bold"/>
              </a:rPr>
              <a:t>PROJENİN AMACI</a:t>
            </a:r>
          </a:p>
        </p:txBody>
      </p:sp>
      <p:sp>
        <p:nvSpPr>
          <p:cNvPr name="TextBox 3" id="3"/>
          <p:cNvSpPr txBox="true"/>
          <p:nvPr/>
        </p:nvSpPr>
        <p:spPr>
          <a:xfrm rot="0">
            <a:off x="1028700" y="3182233"/>
            <a:ext cx="8900600" cy="2538095"/>
          </a:xfrm>
          <a:prstGeom prst="rect">
            <a:avLst/>
          </a:prstGeom>
        </p:spPr>
        <p:txBody>
          <a:bodyPr anchor="t" rtlCol="false" tIns="0" lIns="0" bIns="0" rIns="0">
            <a:spAutoFit/>
          </a:bodyPr>
          <a:lstStyle/>
          <a:p>
            <a:pPr algn="just">
              <a:lnSpc>
                <a:spcPts val="2860"/>
              </a:lnSpc>
            </a:pPr>
            <a:r>
              <a:rPr lang="en-US" sz="2600" spc="-127">
                <a:solidFill>
                  <a:srgbClr val="1B75BC"/>
                </a:solidFill>
                <a:latin typeface="Montserrat Light"/>
                <a:ea typeface="Montserrat Light"/>
                <a:cs typeface="Montserrat Light"/>
                <a:sym typeface="Montserrat Light"/>
              </a:rPr>
              <a:t>Bu projenin temel amacı, yüz tanıma ve nesne tanıma teknolojilerini birleştirerek kullanıcıların kasa işlemlerini otomatikleştiren bir sistem geliştirmektir. Proje sayesinde müşteriler, yüzleri tanındıktan sonra tuttukları ürünler tespit edilerek ödemeleri otomatik olarak yapılmaktadır. Bu sayede kasada bekleme süreleri ortadan kalkmakta ve temassız bir alışveriş deneyimi sağlanmaktadır.</a:t>
            </a:r>
          </a:p>
        </p:txBody>
      </p:sp>
      <p:sp>
        <p:nvSpPr>
          <p:cNvPr name="Freeform 4" id="4"/>
          <p:cNvSpPr/>
          <p:nvPr/>
        </p:nvSpPr>
        <p:spPr>
          <a:xfrm flipH="false" flipV="true" rot="0">
            <a:off x="-827410" y="-273202"/>
            <a:ext cx="3119033" cy="3970991"/>
          </a:xfrm>
          <a:custGeom>
            <a:avLst/>
            <a:gdLst/>
            <a:ahLst/>
            <a:cxnLst/>
            <a:rect r="r" b="b" t="t" l="l"/>
            <a:pathLst>
              <a:path h="3970991" w="3119033">
                <a:moveTo>
                  <a:pt x="0" y="3970990"/>
                </a:moveTo>
                <a:lnTo>
                  <a:pt x="3119033" y="3970990"/>
                </a:lnTo>
                <a:lnTo>
                  <a:pt x="3119033" y="0"/>
                </a:lnTo>
                <a:lnTo>
                  <a:pt x="0" y="0"/>
                </a:lnTo>
                <a:lnTo>
                  <a:pt x="0" y="39709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2700000">
            <a:off x="8809570" y="989703"/>
            <a:ext cx="6961890" cy="1445179"/>
            <a:chOff x="0" y="0"/>
            <a:chExt cx="1833584" cy="380623"/>
          </a:xfrm>
        </p:grpSpPr>
        <p:sp>
          <p:nvSpPr>
            <p:cNvPr name="Freeform 6" id="6"/>
            <p:cNvSpPr/>
            <p:nvPr/>
          </p:nvSpPr>
          <p:spPr>
            <a:xfrm flipH="false" flipV="false" rot="0">
              <a:off x="0" y="0"/>
              <a:ext cx="1833584" cy="380623"/>
            </a:xfrm>
            <a:custGeom>
              <a:avLst/>
              <a:gdLst/>
              <a:ahLst/>
              <a:cxnLst/>
              <a:rect r="r" b="b" t="t" l="l"/>
              <a:pathLst>
                <a:path h="380623" w="1833584">
                  <a:moveTo>
                    <a:pt x="0" y="0"/>
                  </a:moveTo>
                  <a:lnTo>
                    <a:pt x="1833584" y="0"/>
                  </a:lnTo>
                  <a:lnTo>
                    <a:pt x="1833584" y="380623"/>
                  </a:lnTo>
                  <a:lnTo>
                    <a:pt x="0" y="380623"/>
                  </a:lnTo>
                  <a:close/>
                </a:path>
              </a:pathLst>
            </a:custGeom>
            <a:solidFill>
              <a:srgbClr val="033F63"/>
            </a:solidFill>
          </p:spPr>
        </p:sp>
        <p:sp>
          <p:nvSpPr>
            <p:cNvPr name="TextBox 7" id="7"/>
            <p:cNvSpPr txBox="true"/>
            <p:nvPr/>
          </p:nvSpPr>
          <p:spPr>
            <a:xfrm>
              <a:off x="0" y="28575"/>
              <a:ext cx="1833584" cy="352048"/>
            </a:xfrm>
            <a:prstGeom prst="rect">
              <a:avLst/>
            </a:prstGeom>
          </p:spPr>
          <p:txBody>
            <a:bodyPr anchor="ctr" rtlCol="false" tIns="50800" lIns="50800" bIns="50800" rIns="50800"/>
            <a:lstStyle/>
            <a:p>
              <a:pPr algn="ctr">
                <a:lnSpc>
                  <a:spcPts val="2834"/>
                </a:lnSpc>
              </a:pPr>
            </a:p>
          </p:txBody>
        </p:sp>
      </p:grpSp>
      <p:sp>
        <p:nvSpPr>
          <p:cNvPr name="Freeform 8" id="8"/>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060374" y="458014"/>
            <a:ext cx="9075816" cy="90758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DFDFD"/>
            </a:solidFill>
            <a:ln w="12700">
              <a:solidFill>
                <a:srgbClr val="000000"/>
              </a:solidFill>
            </a:ln>
          </p:spPr>
        </p:sp>
      </p:grpSp>
      <p:grpSp>
        <p:nvGrpSpPr>
          <p:cNvPr name="Group 11" id="11"/>
          <p:cNvGrpSpPr/>
          <p:nvPr/>
        </p:nvGrpSpPr>
        <p:grpSpPr>
          <a:xfrm rot="0">
            <a:off x="11255059" y="725487"/>
            <a:ext cx="8881131" cy="8540871"/>
            <a:chOff x="0" y="0"/>
            <a:chExt cx="845181" cy="812800"/>
          </a:xfrm>
        </p:grpSpPr>
        <p:sp>
          <p:nvSpPr>
            <p:cNvPr name="Freeform 12" id="12"/>
            <p:cNvSpPr/>
            <p:nvPr/>
          </p:nvSpPr>
          <p:spPr>
            <a:xfrm flipH="false" flipV="false" rot="0">
              <a:off x="0" y="0"/>
              <a:ext cx="845181" cy="812800"/>
            </a:xfrm>
            <a:custGeom>
              <a:avLst/>
              <a:gdLst/>
              <a:ahLst/>
              <a:cxnLst/>
              <a:rect r="r" b="b" t="t" l="l"/>
              <a:pathLst>
                <a:path h="812800" w="845181">
                  <a:moveTo>
                    <a:pt x="422591" y="0"/>
                  </a:moveTo>
                  <a:lnTo>
                    <a:pt x="845181" y="406400"/>
                  </a:lnTo>
                  <a:lnTo>
                    <a:pt x="422591" y="812800"/>
                  </a:lnTo>
                  <a:lnTo>
                    <a:pt x="0" y="406400"/>
                  </a:lnTo>
                  <a:lnTo>
                    <a:pt x="422591" y="0"/>
                  </a:lnTo>
                  <a:close/>
                </a:path>
              </a:pathLst>
            </a:custGeom>
            <a:blipFill>
              <a:blip r:embed="rId4"/>
              <a:stretch>
                <a:fillRect l="-21073" t="0" r="-21073" b="0"/>
              </a:stretch>
            </a:blipFill>
          </p:spPr>
        </p:sp>
      </p:grpSp>
      <p:sp>
        <p:nvSpPr>
          <p:cNvPr name="Freeform 13" id="13"/>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1826593"/>
            <a:ext cx="9319127" cy="1605290"/>
          </a:xfrm>
          <a:prstGeom prst="rect">
            <a:avLst/>
          </a:prstGeom>
        </p:spPr>
        <p:txBody>
          <a:bodyPr anchor="t" rtlCol="false" tIns="0" lIns="0" bIns="0" rIns="0">
            <a:spAutoFit/>
          </a:bodyPr>
          <a:lstStyle/>
          <a:p>
            <a:pPr algn="l">
              <a:lnSpc>
                <a:spcPts val="6200"/>
              </a:lnSpc>
            </a:pPr>
            <a:r>
              <a:rPr lang="en-US" sz="6200" b="true">
                <a:solidFill>
                  <a:srgbClr val="1B75BC"/>
                </a:solidFill>
                <a:latin typeface="Montserrat Bold"/>
                <a:ea typeface="Montserrat Bold"/>
                <a:cs typeface="Montserrat Bold"/>
                <a:sym typeface="Montserrat Bold"/>
              </a:rPr>
              <a:t>BENZER ÇALIŞMALAR</a:t>
            </a:r>
          </a:p>
          <a:p>
            <a:pPr algn="l">
              <a:lnSpc>
                <a:spcPts val="6200"/>
              </a:lnSpc>
            </a:pPr>
            <a:r>
              <a:rPr lang="en-US" sz="6200" b="true">
                <a:solidFill>
                  <a:srgbClr val="1B75BC"/>
                </a:solidFill>
                <a:latin typeface="Montserrat Bold"/>
                <a:ea typeface="Montserrat Bold"/>
                <a:cs typeface="Montserrat Bold"/>
                <a:sym typeface="Montserrat Bold"/>
              </a:rPr>
              <a:t>AMAZON GO</a:t>
            </a:r>
          </a:p>
        </p:txBody>
      </p:sp>
      <p:sp>
        <p:nvSpPr>
          <p:cNvPr name="TextBox 3" id="3"/>
          <p:cNvSpPr txBox="true"/>
          <p:nvPr/>
        </p:nvSpPr>
        <p:spPr>
          <a:xfrm rot="0">
            <a:off x="1028700" y="3541232"/>
            <a:ext cx="10299147" cy="3362511"/>
          </a:xfrm>
          <a:prstGeom prst="rect">
            <a:avLst/>
          </a:prstGeom>
        </p:spPr>
        <p:txBody>
          <a:bodyPr anchor="t" rtlCol="false" tIns="0" lIns="0" bIns="0" rIns="0">
            <a:spAutoFit/>
          </a:bodyPr>
          <a:lstStyle/>
          <a:p>
            <a:pPr algn="just">
              <a:lnSpc>
                <a:spcPts val="3316"/>
              </a:lnSpc>
            </a:pPr>
            <a:r>
              <a:rPr lang="en-US" sz="3014" spc="-226">
                <a:solidFill>
                  <a:srgbClr val="1B75BC"/>
                </a:solidFill>
                <a:latin typeface="Montserrat Light"/>
                <a:ea typeface="Montserrat Light"/>
                <a:cs typeface="Montserrat Light"/>
                <a:sym typeface="Montserrat Light"/>
              </a:rPr>
              <a:t>Amazon Go, yapay zekâ, sensör sistemleri ve bilgisayarla görme teknolojilerini bir araya getirerek "kasasız market" kavramını hayata geçiren öncü bir projedir. Müşteriler mağazaya girişte bir mobil uygulama ile oturum açar, alışverişlerini yapar ve kasaya uğramadan çıkış yapabilirler. Bu sistem, raftan alınan ürünleri otomatik olarak algılayıp kullanıcı hesabına faturalandırır.</a:t>
            </a:r>
          </a:p>
          <a:p>
            <a:pPr algn="just">
              <a:lnSpc>
                <a:spcPts val="3316"/>
              </a:lnSpc>
            </a:pPr>
            <a:r>
              <a:rPr lang="en-US" sz="3014" spc="-226">
                <a:solidFill>
                  <a:srgbClr val="1B75BC"/>
                </a:solidFill>
                <a:latin typeface="Montserrat Light"/>
                <a:ea typeface="Montserrat Light"/>
                <a:cs typeface="Montserrat Light"/>
                <a:sym typeface="Montserrat Light"/>
              </a:rPr>
              <a:t> Projemiz, Amazon Go'nun çalışma mantığı ve ideolojisinden ilham alınarak yapılmıştır.</a:t>
            </a:r>
          </a:p>
        </p:txBody>
      </p:sp>
      <p:sp>
        <p:nvSpPr>
          <p:cNvPr name="Freeform 4" id="4"/>
          <p:cNvSpPr/>
          <p:nvPr/>
        </p:nvSpPr>
        <p:spPr>
          <a:xfrm flipH="false" flipV="true" rot="0">
            <a:off x="-827410" y="-273202"/>
            <a:ext cx="3119033" cy="3970991"/>
          </a:xfrm>
          <a:custGeom>
            <a:avLst/>
            <a:gdLst/>
            <a:ahLst/>
            <a:cxnLst/>
            <a:rect r="r" b="b" t="t" l="l"/>
            <a:pathLst>
              <a:path h="3970991" w="3119033">
                <a:moveTo>
                  <a:pt x="0" y="3970990"/>
                </a:moveTo>
                <a:lnTo>
                  <a:pt x="3119033" y="3970990"/>
                </a:lnTo>
                <a:lnTo>
                  <a:pt x="3119033" y="0"/>
                </a:lnTo>
                <a:lnTo>
                  <a:pt x="0" y="0"/>
                </a:lnTo>
                <a:lnTo>
                  <a:pt x="0" y="39709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2700000">
            <a:off x="8809570" y="989703"/>
            <a:ext cx="6961890" cy="1445179"/>
            <a:chOff x="0" y="0"/>
            <a:chExt cx="1833584" cy="380623"/>
          </a:xfrm>
        </p:grpSpPr>
        <p:sp>
          <p:nvSpPr>
            <p:cNvPr name="Freeform 6" id="6"/>
            <p:cNvSpPr/>
            <p:nvPr/>
          </p:nvSpPr>
          <p:spPr>
            <a:xfrm flipH="false" flipV="false" rot="0">
              <a:off x="0" y="0"/>
              <a:ext cx="1833584" cy="380623"/>
            </a:xfrm>
            <a:custGeom>
              <a:avLst/>
              <a:gdLst/>
              <a:ahLst/>
              <a:cxnLst/>
              <a:rect r="r" b="b" t="t" l="l"/>
              <a:pathLst>
                <a:path h="380623" w="1833584">
                  <a:moveTo>
                    <a:pt x="0" y="0"/>
                  </a:moveTo>
                  <a:lnTo>
                    <a:pt x="1833584" y="0"/>
                  </a:lnTo>
                  <a:lnTo>
                    <a:pt x="1833584" y="380623"/>
                  </a:lnTo>
                  <a:lnTo>
                    <a:pt x="0" y="380623"/>
                  </a:lnTo>
                  <a:close/>
                </a:path>
              </a:pathLst>
            </a:custGeom>
            <a:solidFill>
              <a:srgbClr val="033F63"/>
            </a:solidFill>
          </p:spPr>
        </p:sp>
        <p:sp>
          <p:nvSpPr>
            <p:cNvPr name="TextBox 7" id="7"/>
            <p:cNvSpPr txBox="true"/>
            <p:nvPr/>
          </p:nvSpPr>
          <p:spPr>
            <a:xfrm>
              <a:off x="0" y="28575"/>
              <a:ext cx="1833584" cy="352048"/>
            </a:xfrm>
            <a:prstGeom prst="rect">
              <a:avLst/>
            </a:prstGeom>
          </p:spPr>
          <p:txBody>
            <a:bodyPr anchor="ctr" rtlCol="false" tIns="50800" lIns="50800" bIns="50800" rIns="50800"/>
            <a:lstStyle/>
            <a:p>
              <a:pPr algn="ctr">
                <a:lnSpc>
                  <a:spcPts val="2834"/>
                </a:lnSpc>
              </a:pPr>
            </a:p>
          </p:txBody>
        </p:sp>
      </p:grpSp>
      <p:sp>
        <p:nvSpPr>
          <p:cNvPr name="Freeform 8" id="8"/>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060374" y="458014"/>
            <a:ext cx="9075816" cy="90758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DFDFD"/>
            </a:solidFill>
            <a:ln w="12700">
              <a:solidFill>
                <a:srgbClr val="000000"/>
              </a:solidFill>
            </a:ln>
          </p:spPr>
        </p:sp>
      </p:grpSp>
      <p:grpSp>
        <p:nvGrpSpPr>
          <p:cNvPr name="Group 11" id="11"/>
          <p:cNvGrpSpPr/>
          <p:nvPr/>
        </p:nvGrpSpPr>
        <p:grpSpPr>
          <a:xfrm rot="0">
            <a:off x="11327847" y="725487"/>
            <a:ext cx="8540871" cy="854087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4"/>
              <a:stretch>
                <a:fillRect l="0" t="0" r="0" b="0"/>
              </a:stretch>
            </a:blipFill>
          </p:spPr>
        </p:sp>
      </p:grpSp>
      <p:sp>
        <p:nvSpPr>
          <p:cNvPr name="Freeform 13" id="13"/>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1826593"/>
            <a:ext cx="9319127" cy="1605290"/>
          </a:xfrm>
          <a:prstGeom prst="rect">
            <a:avLst/>
          </a:prstGeom>
        </p:spPr>
        <p:txBody>
          <a:bodyPr anchor="t" rtlCol="false" tIns="0" lIns="0" bIns="0" rIns="0">
            <a:spAutoFit/>
          </a:bodyPr>
          <a:lstStyle/>
          <a:p>
            <a:pPr algn="l">
              <a:lnSpc>
                <a:spcPts val="6200"/>
              </a:lnSpc>
            </a:pPr>
            <a:r>
              <a:rPr lang="en-US" sz="6200" b="true">
                <a:solidFill>
                  <a:srgbClr val="1B75BC"/>
                </a:solidFill>
                <a:latin typeface="Montserrat Bold"/>
                <a:ea typeface="Montserrat Bold"/>
                <a:cs typeface="Montserrat Bold"/>
                <a:sym typeface="Montserrat Bold"/>
              </a:rPr>
              <a:t>BENZER ÇALIŞMALAR</a:t>
            </a:r>
          </a:p>
          <a:p>
            <a:pPr algn="l">
              <a:lnSpc>
                <a:spcPts val="6200"/>
              </a:lnSpc>
            </a:pPr>
            <a:r>
              <a:rPr lang="en-US" sz="6200" b="true">
                <a:solidFill>
                  <a:srgbClr val="1B75BC"/>
                </a:solidFill>
                <a:latin typeface="Montserrat Bold"/>
                <a:ea typeface="Montserrat Bold"/>
                <a:cs typeface="Montserrat Bold"/>
                <a:sym typeface="Montserrat Bold"/>
              </a:rPr>
              <a:t>BINGOBOX</a:t>
            </a:r>
          </a:p>
        </p:txBody>
      </p:sp>
      <p:sp>
        <p:nvSpPr>
          <p:cNvPr name="TextBox 3" id="3"/>
          <p:cNvSpPr txBox="true"/>
          <p:nvPr/>
        </p:nvSpPr>
        <p:spPr>
          <a:xfrm rot="0">
            <a:off x="1028700" y="3541232"/>
            <a:ext cx="9522741" cy="4619811"/>
          </a:xfrm>
          <a:prstGeom prst="rect">
            <a:avLst/>
          </a:prstGeom>
        </p:spPr>
        <p:txBody>
          <a:bodyPr anchor="t" rtlCol="false" tIns="0" lIns="0" bIns="0" rIns="0">
            <a:spAutoFit/>
          </a:bodyPr>
          <a:lstStyle/>
          <a:p>
            <a:pPr algn="just">
              <a:lnSpc>
                <a:spcPts val="3316"/>
              </a:lnSpc>
            </a:pPr>
            <a:r>
              <a:rPr lang="en-US" sz="3014" spc="-226">
                <a:solidFill>
                  <a:srgbClr val="1B75BC"/>
                </a:solidFill>
                <a:latin typeface="Montserrat Light"/>
                <a:ea typeface="Montserrat Light"/>
                <a:cs typeface="Montserrat Light"/>
                <a:sym typeface="Montserrat Light"/>
              </a:rPr>
              <a:t>BingoBox, Çin merkezli bir başka kasasız market girişimidir. RFID teknolojisi ve kamera tabanlı sistemleri kullanarak müşterilerin ürünleri tanımasını ve ödeme yapmasını sağlar. Mobil uygulama üzerinden yapılan girişle alışveriş başlar ve ürünler otomatik olarak algılanarak ödeme tamamlanır.</a:t>
            </a:r>
          </a:p>
          <a:p>
            <a:pPr algn="just">
              <a:lnSpc>
                <a:spcPts val="3316"/>
              </a:lnSpc>
            </a:pPr>
            <a:r>
              <a:rPr lang="en-US" sz="3014" spc="-226">
                <a:solidFill>
                  <a:srgbClr val="1B75BC"/>
                </a:solidFill>
                <a:latin typeface="Montserrat Light"/>
                <a:ea typeface="Montserrat Light"/>
                <a:cs typeface="Montserrat Light"/>
                <a:sym typeface="Montserrat Light"/>
              </a:rPr>
              <a:t> Bizim projemiz ise BingoBox gibi fiziksel RFID etiketlerine ihtiyaç duymadan yalnızca görsel veriler üzerinden işlem gerçekleştirir. Yüz tanıma sayesinde müşteriler tanınır, nesne tanıma ile aldıkları ürün belirlenir ve ödemeleri doğrudan sistemden düşülür.</a:t>
            </a:r>
          </a:p>
        </p:txBody>
      </p:sp>
      <p:sp>
        <p:nvSpPr>
          <p:cNvPr name="Freeform 4" id="4"/>
          <p:cNvSpPr/>
          <p:nvPr/>
        </p:nvSpPr>
        <p:spPr>
          <a:xfrm flipH="false" flipV="true" rot="0">
            <a:off x="-827410" y="-273202"/>
            <a:ext cx="3119033" cy="3970991"/>
          </a:xfrm>
          <a:custGeom>
            <a:avLst/>
            <a:gdLst/>
            <a:ahLst/>
            <a:cxnLst/>
            <a:rect r="r" b="b" t="t" l="l"/>
            <a:pathLst>
              <a:path h="3970991" w="3119033">
                <a:moveTo>
                  <a:pt x="0" y="3970990"/>
                </a:moveTo>
                <a:lnTo>
                  <a:pt x="3119033" y="3970990"/>
                </a:lnTo>
                <a:lnTo>
                  <a:pt x="3119033" y="0"/>
                </a:lnTo>
                <a:lnTo>
                  <a:pt x="0" y="0"/>
                </a:lnTo>
                <a:lnTo>
                  <a:pt x="0" y="39709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2700000">
            <a:off x="8809570" y="989703"/>
            <a:ext cx="6961890" cy="1445179"/>
            <a:chOff x="0" y="0"/>
            <a:chExt cx="1833584" cy="380623"/>
          </a:xfrm>
        </p:grpSpPr>
        <p:sp>
          <p:nvSpPr>
            <p:cNvPr name="Freeform 6" id="6"/>
            <p:cNvSpPr/>
            <p:nvPr/>
          </p:nvSpPr>
          <p:spPr>
            <a:xfrm flipH="false" flipV="false" rot="0">
              <a:off x="0" y="0"/>
              <a:ext cx="1833584" cy="380623"/>
            </a:xfrm>
            <a:custGeom>
              <a:avLst/>
              <a:gdLst/>
              <a:ahLst/>
              <a:cxnLst/>
              <a:rect r="r" b="b" t="t" l="l"/>
              <a:pathLst>
                <a:path h="380623" w="1833584">
                  <a:moveTo>
                    <a:pt x="0" y="0"/>
                  </a:moveTo>
                  <a:lnTo>
                    <a:pt x="1833584" y="0"/>
                  </a:lnTo>
                  <a:lnTo>
                    <a:pt x="1833584" y="380623"/>
                  </a:lnTo>
                  <a:lnTo>
                    <a:pt x="0" y="380623"/>
                  </a:lnTo>
                  <a:close/>
                </a:path>
              </a:pathLst>
            </a:custGeom>
            <a:solidFill>
              <a:srgbClr val="033F63"/>
            </a:solidFill>
          </p:spPr>
        </p:sp>
        <p:sp>
          <p:nvSpPr>
            <p:cNvPr name="TextBox 7" id="7"/>
            <p:cNvSpPr txBox="true"/>
            <p:nvPr/>
          </p:nvSpPr>
          <p:spPr>
            <a:xfrm>
              <a:off x="0" y="28575"/>
              <a:ext cx="1833584" cy="352048"/>
            </a:xfrm>
            <a:prstGeom prst="rect">
              <a:avLst/>
            </a:prstGeom>
          </p:spPr>
          <p:txBody>
            <a:bodyPr anchor="ctr" rtlCol="false" tIns="50800" lIns="50800" bIns="50800" rIns="50800"/>
            <a:lstStyle/>
            <a:p>
              <a:pPr algn="ctr">
                <a:lnSpc>
                  <a:spcPts val="2834"/>
                </a:lnSpc>
              </a:pPr>
            </a:p>
          </p:txBody>
        </p:sp>
      </p:grpSp>
      <p:sp>
        <p:nvSpPr>
          <p:cNvPr name="Freeform 8" id="8"/>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1060374" y="458014"/>
            <a:ext cx="9075816" cy="90758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DFDFD"/>
            </a:solidFill>
            <a:ln w="12700">
              <a:solidFill>
                <a:srgbClr val="000000"/>
              </a:solidFill>
            </a:ln>
          </p:spPr>
        </p:sp>
      </p:grpSp>
      <p:grpSp>
        <p:nvGrpSpPr>
          <p:cNvPr name="Group 11" id="11"/>
          <p:cNvGrpSpPr/>
          <p:nvPr/>
        </p:nvGrpSpPr>
        <p:grpSpPr>
          <a:xfrm rot="0">
            <a:off x="11327847" y="725487"/>
            <a:ext cx="8540871" cy="8540871"/>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4"/>
              <a:stretch>
                <a:fillRect l="0" t="0" r="0" b="0"/>
              </a:stretch>
            </a:blipFill>
          </p:spPr>
        </p:sp>
      </p:grpSp>
      <p:sp>
        <p:nvSpPr>
          <p:cNvPr name="Freeform 13" id="13"/>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770891"/>
            <a:ext cx="12620354" cy="4823604"/>
          </a:xfrm>
          <a:prstGeom prst="rect">
            <a:avLst/>
          </a:prstGeom>
        </p:spPr>
        <p:txBody>
          <a:bodyPr anchor="t" rtlCol="false" tIns="0" lIns="0" bIns="0" rIns="0">
            <a:spAutoFit/>
          </a:bodyPr>
          <a:lstStyle/>
          <a:p>
            <a:pPr algn="just"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COCO (Common Objects in Context)</a:t>
            </a:r>
            <a:r>
              <a:rPr lang="en-US" sz="3155" spc="-69">
                <a:solidFill>
                  <a:srgbClr val="1B75BC"/>
                </a:solidFill>
                <a:latin typeface="Montserrat Light"/>
                <a:ea typeface="Montserrat Light"/>
                <a:cs typeface="Montserrat Light"/>
                <a:sym typeface="Montserrat Light"/>
              </a:rPr>
              <a:t> veri seti, nesne tanıma modülünün eğitilmesinde temel alınmıştır. Bu veri seti, çok çeşitli gündelik nesneleri içermesiyle projeye geniş tanıma kabiliyeti sağlamıştır.</a:t>
            </a:r>
          </a:p>
          <a:p>
            <a:pPr algn="just"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face_recognition</a:t>
            </a:r>
            <a:r>
              <a:rPr lang="en-US" sz="3155" spc="-69">
                <a:solidFill>
                  <a:srgbClr val="1B75BC"/>
                </a:solidFill>
                <a:latin typeface="Montserrat Light"/>
                <a:ea typeface="Montserrat Light"/>
                <a:cs typeface="Montserrat Light"/>
                <a:sym typeface="Montserrat Light"/>
              </a:rPr>
              <a:t> kütüphanesi, yüz tanıma işlemleri için tercih edilmiştir. Bu kütüphane, yüksek doğruluk oranı ve hızlı çalışmasıyla öne çıkar.</a:t>
            </a:r>
          </a:p>
          <a:p>
            <a:pPr algn="just" marL="681308" indent="-340654" lvl="1">
              <a:lnSpc>
                <a:spcPts val="3155"/>
              </a:lnSpc>
              <a:buFont typeface="Arial"/>
              <a:buChar char="•"/>
            </a:pPr>
            <a:r>
              <a:rPr lang="en-US" sz="3155" spc="-69">
                <a:solidFill>
                  <a:srgbClr val="1B75BC"/>
                </a:solidFill>
                <a:latin typeface="Montserrat Light"/>
                <a:ea typeface="Montserrat Light"/>
                <a:cs typeface="Montserrat Light"/>
                <a:sym typeface="Montserrat Light"/>
              </a:rPr>
              <a:t>Arayüz tasarımı, </a:t>
            </a:r>
            <a:r>
              <a:rPr lang="en-US" b="true" sz="3155" spc="-69">
                <a:solidFill>
                  <a:srgbClr val="1B75BC"/>
                </a:solidFill>
                <a:latin typeface="Montserrat Bold"/>
                <a:ea typeface="Montserrat Bold"/>
                <a:cs typeface="Montserrat Bold"/>
                <a:sym typeface="Montserrat Bold"/>
              </a:rPr>
              <a:t>PyQt5 </a:t>
            </a:r>
            <a:r>
              <a:rPr lang="en-US" sz="3155" spc="-69">
                <a:solidFill>
                  <a:srgbClr val="1B75BC"/>
                </a:solidFill>
                <a:latin typeface="Montserrat Light"/>
                <a:ea typeface="Montserrat Light"/>
                <a:cs typeface="Montserrat Light"/>
                <a:sym typeface="Montserrat Light"/>
              </a:rPr>
              <a:t>ile gerçekleştirilmiş olup, kullanıcı dostu bir deneyim sunması hedeflenmiştir. Arayüzün </a:t>
            </a:r>
            <a:r>
              <a:rPr lang="en-US" b="true" sz="3155" spc="-69">
                <a:solidFill>
                  <a:srgbClr val="1B75BC"/>
                </a:solidFill>
                <a:latin typeface="Montserrat Bold"/>
                <a:ea typeface="Montserrat Bold"/>
                <a:cs typeface="Montserrat Bold"/>
                <a:sym typeface="Montserrat Bold"/>
              </a:rPr>
              <a:t>HTML/CSS kısmı CoreUI</a:t>
            </a:r>
            <a:r>
              <a:rPr lang="en-US" sz="3155" spc="-69">
                <a:solidFill>
                  <a:srgbClr val="1B75BC"/>
                </a:solidFill>
                <a:latin typeface="Montserrat Light"/>
                <a:ea typeface="Montserrat Light"/>
                <a:cs typeface="Montserrat Light"/>
                <a:sym typeface="Montserrat Light"/>
              </a:rPr>
              <a:t> tabanlıdır.</a:t>
            </a:r>
          </a:p>
          <a:p>
            <a:pPr algn="just" marL="681308" indent="-340654" lvl="1">
              <a:lnSpc>
                <a:spcPts val="3155"/>
              </a:lnSpc>
              <a:buFont typeface="Arial"/>
              <a:buChar char="•"/>
            </a:pPr>
            <a:r>
              <a:rPr lang="en-US" b="true" sz="3155" spc="-69">
                <a:solidFill>
                  <a:srgbClr val="1B75BC"/>
                </a:solidFill>
                <a:latin typeface="Montserrat Bold"/>
                <a:ea typeface="Montserrat Bold"/>
                <a:cs typeface="Montserrat Bold"/>
                <a:sym typeface="Montserrat Bold"/>
              </a:rPr>
              <a:t>SQLite</a:t>
            </a:r>
            <a:r>
              <a:rPr lang="en-US" sz="3155" spc="-69">
                <a:solidFill>
                  <a:srgbClr val="1B75BC"/>
                </a:solidFill>
                <a:latin typeface="Montserrat Light"/>
                <a:ea typeface="Montserrat Light"/>
                <a:cs typeface="Montserrat Light"/>
                <a:sym typeface="Montserrat Light"/>
              </a:rPr>
              <a:t> veri tabanı, müşteri bilgilerini ve bakiyelerini saklamak için kullanılmıştır.</a:t>
            </a:r>
          </a:p>
        </p:txBody>
      </p:sp>
      <p:sp>
        <p:nvSpPr>
          <p:cNvPr name="TextBox 3" id="3"/>
          <p:cNvSpPr txBox="true"/>
          <p:nvPr/>
        </p:nvSpPr>
        <p:spPr>
          <a:xfrm rot="0">
            <a:off x="1959134" y="2326468"/>
            <a:ext cx="14369733" cy="2206628"/>
          </a:xfrm>
          <a:prstGeom prst="rect">
            <a:avLst/>
          </a:prstGeom>
        </p:spPr>
        <p:txBody>
          <a:bodyPr anchor="t" rtlCol="false" tIns="0" lIns="0" bIns="0" rIns="0">
            <a:spAutoFit/>
          </a:bodyPr>
          <a:lstStyle/>
          <a:p>
            <a:pPr algn="ctr">
              <a:lnSpc>
                <a:spcPts val="8500"/>
              </a:lnSpc>
            </a:pPr>
            <a:r>
              <a:rPr lang="en-US" b="true" sz="8500">
                <a:solidFill>
                  <a:srgbClr val="1B75BC"/>
                </a:solidFill>
                <a:latin typeface="Montserrat Bold"/>
                <a:ea typeface="Montserrat Bold"/>
                <a:cs typeface="Montserrat Bold"/>
                <a:sym typeface="Montserrat Bold"/>
              </a:rPr>
              <a:t>KULLANILAN MATERYAL VE YÖNTEMLER</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770891"/>
            <a:ext cx="12620354" cy="3223404"/>
          </a:xfrm>
          <a:prstGeom prst="rect">
            <a:avLst/>
          </a:prstGeom>
        </p:spPr>
        <p:txBody>
          <a:bodyPr anchor="t" rtlCol="false" tIns="0" lIns="0" bIns="0" rIns="0">
            <a:spAutoFit/>
          </a:bodyPr>
          <a:lstStyle/>
          <a:p>
            <a:pPr algn="ctr">
              <a:lnSpc>
                <a:spcPts val="3155"/>
              </a:lnSpc>
            </a:pPr>
            <a:r>
              <a:rPr lang="en-US" sz="3155" spc="-9">
                <a:solidFill>
                  <a:srgbClr val="1B75BC"/>
                </a:solidFill>
                <a:latin typeface="Montserrat"/>
                <a:ea typeface="Montserrat"/>
                <a:cs typeface="Montserrat"/>
                <a:sym typeface="Montserrat"/>
              </a:rPr>
              <a:t>Kullanıcı dostu bir arayüz tasarlandı ve PyQt5 ile masaüstü uygulamasına entegre edildi. “Müşteri Ekle” sekmesinde ad, soyad ve telefon bilgileri girilir; ardından kullanıcının yüz fotoğrafları otomatik olarak çekilip sisteme kaydedilir.</a:t>
            </a:r>
          </a:p>
          <a:p>
            <a:pPr algn="ctr">
              <a:lnSpc>
                <a:spcPts val="3155"/>
              </a:lnSpc>
            </a:pPr>
            <a:r>
              <a:rPr lang="en-US" sz="3155" spc="-9">
                <a:solidFill>
                  <a:srgbClr val="1B75BC"/>
                </a:solidFill>
                <a:latin typeface="Montserrat"/>
                <a:ea typeface="Montserrat"/>
                <a:cs typeface="Montserrat"/>
                <a:sym typeface="Montserrat"/>
              </a:rPr>
              <a:t>Bu fotoğraflar yuz_fotograflari klasörüne kaydedilirken müşteri bilgileri SQLite veritabanına işlenir. Başarılı işlemler kullanıcıya görsel uyarılarla bildirilir.</a:t>
            </a:r>
          </a:p>
          <a:p>
            <a:pPr algn="ctr">
              <a:lnSpc>
                <a:spcPts val="3155"/>
              </a:lnSpc>
            </a:pPr>
          </a:p>
        </p:txBody>
      </p:sp>
      <p:sp>
        <p:nvSpPr>
          <p:cNvPr name="TextBox 3" id="3"/>
          <p:cNvSpPr txBox="true"/>
          <p:nvPr/>
        </p:nvSpPr>
        <p:spPr>
          <a:xfrm rot="0">
            <a:off x="1959134" y="2145493"/>
            <a:ext cx="14369733" cy="2531871"/>
          </a:xfrm>
          <a:prstGeom prst="rect">
            <a:avLst/>
          </a:prstGeom>
        </p:spPr>
        <p:txBody>
          <a:bodyPr anchor="t" rtlCol="false" tIns="0" lIns="0" bIns="0" rIns="0">
            <a:spAutoFit/>
          </a:bodyPr>
          <a:lstStyle/>
          <a:p>
            <a:pPr algn="ctr">
              <a:lnSpc>
                <a:spcPts val="10004"/>
              </a:lnSpc>
            </a:pPr>
            <a:r>
              <a:rPr lang="en-US" b="true" sz="8200">
                <a:solidFill>
                  <a:srgbClr val="1B75BC"/>
                </a:solidFill>
                <a:latin typeface="Montserrat Bold"/>
                <a:ea typeface="Montserrat Bold"/>
                <a:cs typeface="Montserrat Bold"/>
                <a:sym typeface="Montserrat Bold"/>
              </a:rPr>
              <a:t>ARAYÜZ VE MÜŞTERİ EKLEME MODÜLÜ</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780416"/>
            <a:ext cx="12620354" cy="4798839"/>
          </a:xfrm>
          <a:prstGeom prst="rect">
            <a:avLst/>
          </a:prstGeom>
        </p:spPr>
        <p:txBody>
          <a:bodyPr anchor="t" rtlCol="false" tIns="0" lIns="0" bIns="0" rIns="0">
            <a:spAutoFit/>
          </a:bodyPr>
          <a:lstStyle/>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“Kasayı Başlat” butonuna basıldığında kamera açılır ve gerçek zamanlı yüz tanıma işlemi başlar.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Sistemde daha önce kayıtlı olan yüz görüntüleriyle karşılaştırma yapılır.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Eğer kişi sistemde kayıtlı değilse kayıt alınması için uyarı verilir ve işlem devam etmez.</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Tanınan kişinin adı arayüzde gösterilir ve işlem onayı alınır.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Yüz tanıma, face_recognition kütüphanesi ile yapılmakta olup, sistem hızlı ve güvenilir eşleştirme sağlar.</a:t>
            </a:r>
          </a:p>
          <a:p>
            <a:pPr algn="ctr">
              <a:lnSpc>
                <a:spcPts val="3155"/>
              </a:lnSpc>
            </a:pPr>
          </a:p>
        </p:txBody>
      </p:sp>
      <p:sp>
        <p:nvSpPr>
          <p:cNvPr name="TextBox 3" id="3"/>
          <p:cNvSpPr txBox="true"/>
          <p:nvPr/>
        </p:nvSpPr>
        <p:spPr>
          <a:xfrm rot="0">
            <a:off x="1959134" y="2326468"/>
            <a:ext cx="14369733" cy="1130303"/>
          </a:xfrm>
          <a:prstGeom prst="rect">
            <a:avLst/>
          </a:prstGeom>
        </p:spPr>
        <p:txBody>
          <a:bodyPr anchor="t" rtlCol="false" tIns="0" lIns="0" bIns="0" rIns="0">
            <a:spAutoFit/>
          </a:bodyPr>
          <a:lstStyle/>
          <a:p>
            <a:pPr algn="ctr">
              <a:lnSpc>
                <a:spcPts val="8500"/>
              </a:lnSpc>
            </a:pPr>
            <a:r>
              <a:rPr lang="en-US" b="true" sz="8500">
                <a:solidFill>
                  <a:srgbClr val="1B75BC"/>
                </a:solidFill>
                <a:latin typeface="Montserrat Bold"/>
                <a:ea typeface="Montserrat Bold"/>
                <a:cs typeface="Montserrat Bold"/>
                <a:sym typeface="Montserrat Bold"/>
              </a:rPr>
              <a:t>YÜZ TANIMA SİSTEMİ</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780416"/>
            <a:ext cx="12620354" cy="3922539"/>
          </a:xfrm>
          <a:prstGeom prst="rect">
            <a:avLst/>
          </a:prstGeom>
        </p:spPr>
        <p:txBody>
          <a:bodyPr anchor="t" rtlCol="false" tIns="0" lIns="0" bIns="0" rIns="0">
            <a:spAutoFit/>
          </a:bodyPr>
          <a:lstStyle/>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Yüz tanıma işleminden sonra açılan bu pencere, kullanıcının elindeki nesneleri analiz eder.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Kamera görüntüsü üzerinden nesne tanıma yapılır v</a:t>
            </a:r>
            <a:r>
              <a:rPr lang="en-US" sz="3455" spc="-100">
                <a:solidFill>
                  <a:srgbClr val="1B75BC"/>
                </a:solidFill>
                <a:latin typeface="Montserrat"/>
                <a:ea typeface="Montserrat"/>
                <a:cs typeface="Montserrat"/>
                <a:sym typeface="Montserrat"/>
              </a:rPr>
              <a:t>e örneğin "şişe", "telefon", "bardak” gibi objeler tanımlanır.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COCO veri seti ile eğitilmiş bir model kull</a:t>
            </a:r>
            <a:r>
              <a:rPr lang="en-US" sz="3455" spc="-100">
                <a:solidFill>
                  <a:srgbClr val="1B75BC"/>
                </a:solidFill>
                <a:latin typeface="Montserrat"/>
                <a:ea typeface="Montserrat"/>
                <a:cs typeface="Montserrat"/>
                <a:sym typeface="Montserrat"/>
              </a:rPr>
              <a:t>anılır ve OpenCV + TensorFlow desteğiyle çalışır.</a:t>
            </a:r>
          </a:p>
          <a:p>
            <a:pPr algn="l" marL="746076" indent="-373038" lvl="1">
              <a:lnSpc>
                <a:spcPts val="3455"/>
              </a:lnSpc>
              <a:buFont typeface="Arial"/>
              <a:buChar char="•"/>
            </a:pPr>
            <a:r>
              <a:rPr lang="en-US" sz="3455" spc="-100">
                <a:solidFill>
                  <a:srgbClr val="1B75BC"/>
                </a:solidFill>
                <a:latin typeface="Montserrat"/>
                <a:ea typeface="Montserrat"/>
                <a:cs typeface="Montserrat"/>
                <a:sym typeface="Montserrat"/>
              </a:rPr>
              <a:t>T</a:t>
            </a:r>
            <a:r>
              <a:rPr lang="en-US" sz="3455" spc="-100">
                <a:solidFill>
                  <a:srgbClr val="1B75BC"/>
                </a:solidFill>
                <a:latin typeface="Montserrat"/>
                <a:ea typeface="Montserrat"/>
                <a:cs typeface="Montserrat"/>
                <a:sym typeface="Montserrat"/>
              </a:rPr>
              <a:t>anınan nesnenin fiyatı veritabanından çekilir ve müşterinin bakiyesinden otomatik olarak düşülür.</a:t>
            </a:r>
          </a:p>
          <a:p>
            <a:pPr algn="ctr">
              <a:lnSpc>
                <a:spcPts val="3155"/>
              </a:lnSpc>
            </a:pPr>
          </a:p>
        </p:txBody>
      </p:sp>
      <p:sp>
        <p:nvSpPr>
          <p:cNvPr name="TextBox 3" id="3"/>
          <p:cNvSpPr txBox="true"/>
          <p:nvPr/>
        </p:nvSpPr>
        <p:spPr>
          <a:xfrm rot="0">
            <a:off x="1959134" y="2326468"/>
            <a:ext cx="14369733" cy="1130303"/>
          </a:xfrm>
          <a:prstGeom prst="rect">
            <a:avLst/>
          </a:prstGeom>
        </p:spPr>
        <p:txBody>
          <a:bodyPr anchor="t" rtlCol="false" tIns="0" lIns="0" bIns="0" rIns="0">
            <a:spAutoFit/>
          </a:bodyPr>
          <a:lstStyle/>
          <a:p>
            <a:pPr algn="ctr">
              <a:lnSpc>
                <a:spcPts val="8500"/>
              </a:lnSpc>
            </a:pPr>
            <a:r>
              <a:rPr lang="en-US" b="true" sz="8500">
                <a:solidFill>
                  <a:srgbClr val="1B75BC"/>
                </a:solidFill>
                <a:latin typeface="Montserrat Bold"/>
                <a:ea typeface="Montserrat Bold"/>
                <a:cs typeface="Montserrat Bold"/>
                <a:sym typeface="Montserrat Bold"/>
              </a:rPr>
              <a:t>NESNE TANIMA SİSTEMİ</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360053"/>
            <a:ext cx="12465996" cy="3666016"/>
          </a:xfrm>
          <a:prstGeom prst="rect">
            <a:avLst/>
          </a:prstGeom>
        </p:spPr>
        <p:txBody>
          <a:bodyPr anchor="t" rtlCol="false" tIns="0" lIns="0" bIns="0" rIns="0">
            <a:spAutoFit/>
          </a:bodyPr>
          <a:lstStyle/>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Bu panel, sisteme kayıtlı tüm müşterilerin </a:t>
            </a:r>
            <a:r>
              <a:rPr lang="en-US" b="true" sz="3329" spc="-73">
                <a:solidFill>
                  <a:srgbClr val="1B75BC"/>
                </a:solidFill>
                <a:latin typeface="Montserrat Bold"/>
                <a:ea typeface="Montserrat Bold"/>
                <a:cs typeface="Montserrat Bold"/>
                <a:sym typeface="Montserrat Bold"/>
              </a:rPr>
              <a:t>ID</a:t>
            </a:r>
            <a:r>
              <a:rPr lang="en-US" sz="3329" spc="-73">
                <a:solidFill>
                  <a:srgbClr val="1B75BC"/>
                </a:solidFill>
                <a:latin typeface="Montserrat Light"/>
                <a:ea typeface="Montserrat Light"/>
                <a:cs typeface="Montserrat Light"/>
                <a:sym typeface="Montserrat Light"/>
              </a:rPr>
              <a:t>, </a:t>
            </a:r>
            <a:r>
              <a:rPr lang="en-US" b="true" sz="3329" spc="-73">
                <a:solidFill>
                  <a:srgbClr val="1B75BC"/>
                </a:solidFill>
                <a:latin typeface="Montserrat Bold"/>
                <a:ea typeface="Montserrat Bold"/>
                <a:cs typeface="Montserrat Bold"/>
                <a:sym typeface="Montserrat Bold"/>
              </a:rPr>
              <a:t>isim</a:t>
            </a:r>
            <a:r>
              <a:rPr lang="en-US" sz="3329" spc="-73">
                <a:solidFill>
                  <a:srgbClr val="1B75BC"/>
                </a:solidFill>
                <a:latin typeface="Montserrat Light"/>
                <a:ea typeface="Montserrat Light"/>
                <a:cs typeface="Montserrat Light"/>
                <a:sym typeface="Montserrat Light"/>
              </a:rPr>
              <a:t>, </a:t>
            </a:r>
            <a:r>
              <a:rPr lang="en-US" b="true" sz="3329" spc="-73">
                <a:solidFill>
                  <a:srgbClr val="1B75BC"/>
                </a:solidFill>
                <a:latin typeface="Montserrat Bold"/>
                <a:ea typeface="Montserrat Bold"/>
                <a:cs typeface="Montserrat Bold"/>
                <a:sym typeface="Montserrat Bold"/>
              </a:rPr>
              <a:t>soyisim</a:t>
            </a:r>
            <a:r>
              <a:rPr lang="en-US" sz="3329" spc="-73">
                <a:solidFill>
                  <a:srgbClr val="1B75BC"/>
                </a:solidFill>
                <a:latin typeface="Montserrat Light"/>
                <a:ea typeface="Montserrat Light"/>
                <a:cs typeface="Montserrat Light"/>
                <a:sym typeface="Montserrat Light"/>
              </a:rPr>
              <a:t> ve </a:t>
            </a:r>
            <a:r>
              <a:rPr lang="en-US" b="true" sz="3329" spc="-73">
                <a:solidFill>
                  <a:srgbClr val="1B75BC"/>
                </a:solidFill>
                <a:latin typeface="Montserrat Bold"/>
                <a:ea typeface="Montserrat Bold"/>
                <a:cs typeface="Montserrat Bold"/>
                <a:sym typeface="Montserrat Bold"/>
              </a:rPr>
              <a:t>telefon </a:t>
            </a:r>
            <a:r>
              <a:rPr lang="en-US" sz="3329" spc="-73">
                <a:solidFill>
                  <a:srgbClr val="1B75BC"/>
                </a:solidFill>
                <a:latin typeface="Montserrat Light"/>
                <a:ea typeface="Montserrat Light"/>
                <a:cs typeface="Montserrat Light"/>
                <a:sym typeface="Montserrat Light"/>
              </a:rPr>
              <a:t>bilgilerini listeler.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Tablo yapısı Bootstrap ile okunabilir şekilde tasarlanmıştır.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Güvenlik amacıyla, listeye erişim yalnızca admin girişi sonrasında mümkündür.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Admin şifresi doğru girildiğinde, tablo içeriği görünür hâle gelir.</a:t>
            </a:r>
          </a:p>
          <a:p>
            <a:pPr algn="just">
              <a:lnSpc>
                <a:spcPts val="3629"/>
              </a:lnSpc>
            </a:pPr>
          </a:p>
        </p:txBody>
      </p:sp>
      <p:sp>
        <p:nvSpPr>
          <p:cNvPr name="TextBox 3" id="3"/>
          <p:cNvSpPr txBox="true"/>
          <p:nvPr/>
        </p:nvSpPr>
        <p:spPr>
          <a:xfrm rot="0">
            <a:off x="3627055" y="2019332"/>
            <a:ext cx="11033891" cy="2036458"/>
          </a:xfrm>
          <a:prstGeom prst="rect">
            <a:avLst/>
          </a:prstGeom>
        </p:spPr>
        <p:txBody>
          <a:bodyPr anchor="t" rtlCol="false" tIns="0" lIns="0" bIns="0" rIns="0">
            <a:spAutoFit/>
          </a:bodyPr>
          <a:lstStyle/>
          <a:p>
            <a:pPr algn="ctr">
              <a:lnSpc>
                <a:spcPts val="7800"/>
              </a:lnSpc>
            </a:pPr>
            <a:r>
              <a:rPr lang="en-US" b="true" sz="7800">
                <a:solidFill>
                  <a:srgbClr val="1B75BC"/>
                </a:solidFill>
                <a:latin typeface="Montserrat Bold"/>
                <a:ea typeface="Montserrat Bold"/>
                <a:cs typeface="Montserrat Bold"/>
                <a:sym typeface="Montserrat Bold"/>
              </a:rPr>
              <a:t> MÜŞTERİ LİSTESİ PANELİ</a:t>
            </a: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833823" y="4360053"/>
            <a:ext cx="12465996" cy="4123216"/>
          </a:xfrm>
          <a:prstGeom prst="rect">
            <a:avLst/>
          </a:prstGeom>
        </p:spPr>
        <p:txBody>
          <a:bodyPr anchor="t" rtlCol="false" tIns="0" lIns="0" bIns="0" rIns="0">
            <a:spAutoFit/>
          </a:bodyPr>
          <a:lstStyle/>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Bu panel, müşterilerin mevcut bakiyelerini görüntüleme ve güncelleme imkânı sunar.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Admin girişi zorunludur;</a:t>
            </a:r>
            <a:r>
              <a:rPr lang="en-US" sz="3329" spc="-73">
                <a:solidFill>
                  <a:srgbClr val="1B75BC"/>
                </a:solidFill>
                <a:latin typeface="Montserrat Light"/>
                <a:ea typeface="Montserrat Light"/>
                <a:cs typeface="Montserrat Light"/>
                <a:sym typeface="Montserrat Light"/>
              </a:rPr>
              <a:t> yalnızca yetkili kişiler işlem yapabilir.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Güncelleme işlemleri doğrudan veri tabanına yansıtılır ve kullanıcı arayüzü anlık olarak güncellenir.</a:t>
            </a:r>
          </a:p>
          <a:p>
            <a:pPr algn="just" marL="718881" indent="-359440" lvl="1">
              <a:lnSpc>
                <a:spcPts val="3629"/>
              </a:lnSpc>
              <a:buFont typeface="Arial"/>
              <a:buChar char="•"/>
            </a:pPr>
            <a:r>
              <a:rPr lang="en-US" sz="3329" spc="-73">
                <a:solidFill>
                  <a:srgbClr val="1B75BC"/>
                </a:solidFill>
                <a:latin typeface="Montserrat Light"/>
                <a:ea typeface="Montserrat Light"/>
                <a:cs typeface="Montserrat Light"/>
                <a:sym typeface="Montserrat Light"/>
              </a:rPr>
              <a:t>Tablo yapısı kullanıcı dostu olup işlem kolaylığı sağlamak için butonlarla desteklenmiştir.</a:t>
            </a:r>
          </a:p>
          <a:p>
            <a:pPr algn="just">
              <a:lnSpc>
                <a:spcPts val="3629"/>
              </a:lnSpc>
            </a:pPr>
          </a:p>
        </p:txBody>
      </p:sp>
      <p:sp>
        <p:nvSpPr>
          <p:cNvPr name="TextBox 3" id="3"/>
          <p:cNvSpPr txBox="true"/>
          <p:nvPr/>
        </p:nvSpPr>
        <p:spPr>
          <a:xfrm rot="0">
            <a:off x="3627055" y="2019332"/>
            <a:ext cx="12319813" cy="3027058"/>
          </a:xfrm>
          <a:prstGeom prst="rect">
            <a:avLst/>
          </a:prstGeom>
        </p:spPr>
        <p:txBody>
          <a:bodyPr anchor="t" rtlCol="false" tIns="0" lIns="0" bIns="0" rIns="0">
            <a:spAutoFit/>
          </a:bodyPr>
          <a:lstStyle/>
          <a:p>
            <a:pPr algn="ctr">
              <a:lnSpc>
                <a:spcPts val="7800"/>
              </a:lnSpc>
            </a:pPr>
            <a:r>
              <a:rPr lang="en-US" b="true" sz="7800">
                <a:solidFill>
                  <a:srgbClr val="1B75BC"/>
                </a:solidFill>
                <a:latin typeface="Montserrat Bold"/>
                <a:ea typeface="Montserrat Bold"/>
                <a:cs typeface="Montserrat Bold"/>
                <a:sym typeface="Montserrat Bold"/>
              </a:rPr>
              <a:t> BAKİYE GÜNCELLEME PANELİ </a:t>
            </a:r>
          </a:p>
          <a:p>
            <a:pPr algn="ctr">
              <a:lnSpc>
                <a:spcPts val="7800"/>
              </a:lnSpc>
            </a:pPr>
          </a:p>
        </p:txBody>
      </p:sp>
      <p:sp>
        <p:nvSpPr>
          <p:cNvPr name="Freeform 4" id="4"/>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028700" y="1628169"/>
            <a:ext cx="10561129" cy="939816"/>
          </a:xfrm>
          <a:prstGeom prst="rect">
            <a:avLst/>
          </a:prstGeom>
        </p:spPr>
        <p:txBody>
          <a:bodyPr anchor="t" rtlCol="false" tIns="0" lIns="0" bIns="0" rIns="0">
            <a:spAutoFit/>
          </a:bodyPr>
          <a:lstStyle/>
          <a:p>
            <a:pPr algn="l">
              <a:lnSpc>
                <a:spcPts val="7000"/>
              </a:lnSpc>
            </a:pPr>
            <a:r>
              <a:rPr lang="en-US" sz="7000" b="true">
                <a:solidFill>
                  <a:srgbClr val="1B75BC"/>
                </a:solidFill>
                <a:latin typeface="Montserrat Bold"/>
                <a:ea typeface="Montserrat Bold"/>
                <a:cs typeface="Montserrat Bold"/>
                <a:sym typeface="Montserrat Bold"/>
              </a:rPr>
              <a:t>SONUÇ VE ÖNERİLER</a:t>
            </a:r>
          </a:p>
        </p:txBody>
      </p:sp>
      <p:sp>
        <p:nvSpPr>
          <p:cNvPr name="TextBox 3" id="3"/>
          <p:cNvSpPr txBox="true"/>
          <p:nvPr/>
        </p:nvSpPr>
        <p:spPr>
          <a:xfrm rot="0">
            <a:off x="1699368" y="3513137"/>
            <a:ext cx="9361006" cy="1769872"/>
          </a:xfrm>
          <a:prstGeom prst="rect">
            <a:avLst/>
          </a:prstGeom>
        </p:spPr>
        <p:txBody>
          <a:bodyPr anchor="t" rtlCol="false" tIns="0" lIns="0" bIns="0" rIns="0">
            <a:spAutoFit/>
          </a:bodyPr>
          <a:lstStyle/>
          <a:p>
            <a:pPr algn="just">
              <a:lnSpc>
                <a:spcPts val="2834"/>
              </a:lnSpc>
            </a:pPr>
            <a:r>
              <a:rPr lang="en-US" sz="2600">
                <a:solidFill>
                  <a:srgbClr val="1B75BC"/>
                </a:solidFill>
                <a:latin typeface="Montserrat Light"/>
                <a:ea typeface="Montserrat Light"/>
                <a:cs typeface="Montserrat Light"/>
                <a:sym typeface="Montserrat Light"/>
              </a:rPr>
              <a:t>Bu proje, yüz tanıma ve nesne tanıma teknolojilerini entegre ederek, perakende sektörüne yönelik yenilikçi bir otomasyon sistemi sunmuştur.Kullanıcı dostu arayüz ve hızlı tanıma sistemi sayesinde müşterilerin alışveriş deneyimi kolaylaştırılmıştır.</a:t>
            </a:r>
          </a:p>
        </p:txBody>
      </p:sp>
      <p:sp>
        <p:nvSpPr>
          <p:cNvPr name="TextBox 4" id="4"/>
          <p:cNvSpPr txBox="true"/>
          <p:nvPr/>
        </p:nvSpPr>
        <p:spPr>
          <a:xfrm rot="0">
            <a:off x="1028700" y="3513137"/>
            <a:ext cx="670668" cy="360172"/>
          </a:xfrm>
          <a:prstGeom prst="rect">
            <a:avLst/>
          </a:prstGeom>
        </p:spPr>
        <p:txBody>
          <a:bodyPr anchor="t" rtlCol="false" tIns="0" lIns="0" bIns="0" rIns="0">
            <a:spAutoFit/>
          </a:bodyPr>
          <a:lstStyle/>
          <a:p>
            <a:pPr algn="just">
              <a:lnSpc>
                <a:spcPts val="2834"/>
              </a:lnSpc>
            </a:pPr>
            <a:r>
              <a:rPr lang="en-US" sz="2600">
                <a:solidFill>
                  <a:srgbClr val="1B75BC"/>
                </a:solidFill>
                <a:latin typeface="Montserrat Light"/>
                <a:ea typeface="Montserrat Light"/>
                <a:cs typeface="Montserrat Light"/>
                <a:sym typeface="Montserrat Light"/>
              </a:rPr>
              <a:t>1.</a:t>
            </a:r>
          </a:p>
        </p:txBody>
      </p:sp>
      <p:sp>
        <p:nvSpPr>
          <p:cNvPr name="Freeform 5" id="5"/>
          <p:cNvSpPr/>
          <p:nvPr/>
        </p:nvSpPr>
        <p:spPr>
          <a:xfrm flipH="false" flipV="true" rot="0">
            <a:off x="-827410" y="-273202"/>
            <a:ext cx="3119033" cy="3970991"/>
          </a:xfrm>
          <a:custGeom>
            <a:avLst/>
            <a:gdLst/>
            <a:ahLst/>
            <a:cxnLst/>
            <a:rect r="r" b="b" t="t" l="l"/>
            <a:pathLst>
              <a:path h="3970991" w="3119033">
                <a:moveTo>
                  <a:pt x="0" y="3970990"/>
                </a:moveTo>
                <a:lnTo>
                  <a:pt x="3119033" y="3970990"/>
                </a:lnTo>
                <a:lnTo>
                  <a:pt x="3119033" y="0"/>
                </a:lnTo>
                <a:lnTo>
                  <a:pt x="0" y="0"/>
                </a:lnTo>
                <a:lnTo>
                  <a:pt x="0" y="397099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2700000">
            <a:off x="8809570" y="989703"/>
            <a:ext cx="6961890" cy="1445179"/>
            <a:chOff x="0" y="0"/>
            <a:chExt cx="1833584" cy="380623"/>
          </a:xfrm>
        </p:grpSpPr>
        <p:sp>
          <p:nvSpPr>
            <p:cNvPr name="Freeform 7" id="7"/>
            <p:cNvSpPr/>
            <p:nvPr/>
          </p:nvSpPr>
          <p:spPr>
            <a:xfrm flipH="false" flipV="false" rot="0">
              <a:off x="0" y="0"/>
              <a:ext cx="1833584" cy="380623"/>
            </a:xfrm>
            <a:custGeom>
              <a:avLst/>
              <a:gdLst/>
              <a:ahLst/>
              <a:cxnLst/>
              <a:rect r="r" b="b" t="t" l="l"/>
              <a:pathLst>
                <a:path h="380623" w="1833584">
                  <a:moveTo>
                    <a:pt x="0" y="0"/>
                  </a:moveTo>
                  <a:lnTo>
                    <a:pt x="1833584" y="0"/>
                  </a:lnTo>
                  <a:lnTo>
                    <a:pt x="1833584" y="380623"/>
                  </a:lnTo>
                  <a:lnTo>
                    <a:pt x="0" y="380623"/>
                  </a:lnTo>
                  <a:close/>
                </a:path>
              </a:pathLst>
            </a:custGeom>
            <a:solidFill>
              <a:srgbClr val="033F63"/>
            </a:solidFill>
          </p:spPr>
        </p:sp>
        <p:sp>
          <p:nvSpPr>
            <p:cNvPr name="TextBox 8" id="8"/>
            <p:cNvSpPr txBox="true"/>
            <p:nvPr/>
          </p:nvSpPr>
          <p:spPr>
            <a:xfrm>
              <a:off x="0" y="28575"/>
              <a:ext cx="1833584" cy="352048"/>
            </a:xfrm>
            <a:prstGeom prst="rect">
              <a:avLst/>
            </a:prstGeom>
          </p:spPr>
          <p:txBody>
            <a:bodyPr anchor="ctr" rtlCol="false" tIns="50800" lIns="50800" bIns="50800" rIns="50800"/>
            <a:lstStyle/>
            <a:p>
              <a:pPr algn="ctr">
                <a:lnSpc>
                  <a:spcPts val="2834"/>
                </a:lnSpc>
              </a:pPr>
            </a:p>
          </p:txBody>
        </p:sp>
      </p:grpSp>
      <p:sp>
        <p:nvSpPr>
          <p:cNvPr name="Freeform 9" id="9"/>
          <p:cNvSpPr/>
          <p:nvPr/>
        </p:nvSpPr>
        <p:spPr>
          <a:xfrm flipH="true" flipV="false" rot="0">
            <a:off x="11835653" y="2046952"/>
            <a:ext cx="6854420" cy="8726692"/>
          </a:xfrm>
          <a:custGeom>
            <a:avLst/>
            <a:gdLst/>
            <a:ahLst/>
            <a:cxnLst/>
            <a:rect r="r" b="b" t="t" l="l"/>
            <a:pathLst>
              <a:path h="8726692" w="6854420">
                <a:moveTo>
                  <a:pt x="6854420" y="0"/>
                </a:moveTo>
                <a:lnTo>
                  <a:pt x="0" y="0"/>
                </a:lnTo>
                <a:lnTo>
                  <a:pt x="0" y="8726692"/>
                </a:lnTo>
                <a:lnTo>
                  <a:pt x="6854420" y="8726692"/>
                </a:lnTo>
                <a:lnTo>
                  <a:pt x="685442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 id="10"/>
          <p:cNvGrpSpPr/>
          <p:nvPr/>
        </p:nvGrpSpPr>
        <p:grpSpPr>
          <a:xfrm rot="0">
            <a:off x="11060374" y="458014"/>
            <a:ext cx="9075816" cy="9075816"/>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solidFill>
              <a:srgbClr val="FDFDFD"/>
            </a:solidFill>
            <a:ln w="12700">
              <a:solidFill>
                <a:srgbClr val="000000"/>
              </a:solidFill>
            </a:ln>
          </p:spPr>
        </p:sp>
      </p:grpSp>
      <p:grpSp>
        <p:nvGrpSpPr>
          <p:cNvPr name="Group 12" id="12"/>
          <p:cNvGrpSpPr/>
          <p:nvPr/>
        </p:nvGrpSpPr>
        <p:grpSpPr>
          <a:xfrm rot="0">
            <a:off x="11327847" y="725487"/>
            <a:ext cx="8540871" cy="854087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812800" y="406400"/>
                  </a:lnTo>
                  <a:lnTo>
                    <a:pt x="406400" y="812800"/>
                  </a:lnTo>
                  <a:lnTo>
                    <a:pt x="0" y="406400"/>
                  </a:lnTo>
                  <a:lnTo>
                    <a:pt x="406400" y="0"/>
                  </a:lnTo>
                  <a:close/>
                </a:path>
              </a:pathLst>
            </a:custGeom>
            <a:blipFill>
              <a:blip r:embed="rId4"/>
              <a:stretch>
                <a:fillRect l="-25046" t="0" r="-25046" b="0"/>
              </a:stretch>
            </a:blipFill>
          </p:spPr>
        </p:sp>
      </p:grpSp>
      <p:sp>
        <p:nvSpPr>
          <p:cNvPr name="Freeform 14" id="14"/>
          <p:cNvSpPr/>
          <p:nvPr/>
        </p:nvSpPr>
        <p:spPr>
          <a:xfrm flipH="false" flipV="false" rot="0">
            <a:off x="1116650" y="8649333"/>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1699368" y="5858383"/>
            <a:ext cx="10136285" cy="1769872"/>
          </a:xfrm>
          <a:prstGeom prst="rect">
            <a:avLst/>
          </a:prstGeom>
        </p:spPr>
        <p:txBody>
          <a:bodyPr anchor="t" rtlCol="false" tIns="0" lIns="0" bIns="0" rIns="0">
            <a:spAutoFit/>
          </a:bodyPr>
          <a:lstStyle/>
          <a:p>
            <a:pPr algn="l">
              <a:lnSpc>
                <a:spcPts val="2834"/>
              </a:lnSpc>
            </a:pPr>
            <a:r>
              <a:rPr lang="en-US" sz="2600" b="true">
                <a:solidFill>
                  <a:srgbClr val="1B75BC"/>
                </a:solidFill>
                <a:latin typeface="Montserrat Bold"/>
                <a:ea typeface="Montserrat Bold"/>
                <a:cs typeface="Montserrat Bold"/>
                <a:sym typeface="Montserrat Bold"/>
              </a:rPr>
              <a:t>İlerleyen süreçlerde;</a:t>
            </a:r>
          </a:p>
          <a:p>
            <a:pPr algn="l">
              <a:lnSpc>
                <a:spcPts val="2834"/>
              </a:lnSpc>
            </a:pPr>
            <a:r>
              <a:rPr lang="en-US" sz="2600">
                <a:solidFill>
                  <a:srgbClr val="1B75BC"/>
                </a:solidFill>
                <a:latin typeface="Montserrat Light"/>
                <a:ea typeface="Montserrat Light"/>
                <a:cs typeface="Montserrat Light"/>
                <a:sym typeface="Montserrat Light"/>
              </a:rPr>
              <a:t> • Tanınan nesne sayısının artırılması,</a:t>
            </a:r>
          </a:p>
          <a:p>
            <a:pPr algn="l">
              <a:lnSpc>
                <a:spcPts val="2834"/>
              </a:lnSpc>
            </a:pPr>
            <a:r>
              <a:rPr lang="en-US" sz="2600">
                <a:solidFill>
                  <a:srgbClr val="1B75BC"/>
                </a:solidFill>
                <a:latin typeface="Montserrat Light"/>
                <a:ea typeface="Montserrat Light"/>
                <a:cs typeface="Montserrat Light"/>
                <a:sym typeface="Montserrat Light"/>
              </a:rPr>
              <a:t> • Daha güçlü yapay zekâ modelleriyle doğruluğun artırılması,</a:t>
            </a:r>
          </a:p>
          <a:p>
            <a:pPr algn="l">
              <a:lnSpc>
                <a:spcPts val="2834"/>
              </a:lnSpc>
            </a:pPr>
            <a:r>
              <a:rPr lang="en-US" sz="2600">
                <a:solidFill>
                  <a:srgbClr val="1B75BC"/>
                </a:solidFill>
                <a:latin typeface="Montserrat Light"/>
                <a:ea typeface="Montserrat Light"/>
                <a:cs typeface="Montserrat Light"/>
                <a:sym typeface="Montserrat Light"/>
              </a:rPr>
              <a:t> • Farklı sektörlere uyarlanabilirliğin değerlendirilmesi hedeflenmektedir.</a:t>
            </a:r>
          </a:p>
        </p:txBody>
      </p:sp>
      <p:sp>
        <p:nvSpPr>
          <p:cNvPr name="TextBox 16" id="16"/>
          <p:cNvSpPr txBox="true"/>
          <p:nvPr/>
        </p:nvSpPr>
        <p:spPr>
          <a:xfrm rot="0">
            <a:off x="1028700" y="5664009"/>
            <a:ext cx="670668" cy="360172"/>
          </a:xfrm>
          <a:prstGeom prst="rect">
            <a:avLst/>
          </a:prstGeom>
        </p:spPr>
        <p:txBody>
          <a:bodyPr anchor="t" rtlCol="false" tIns="0" lIns="0" bIns="0" rIns="0">
            <a:spAutoFit/>
          </a:bodyPr>
          <a:lstStyle/>
          <a:p>
            <a:pPr algn="just">
              <a:lnSpc>
                <a:spcPts val="2834"/>
              </a:lnSpc>
            </a:pPr>
            <a:r>
              <a:rPr lang="en-US" sz="2600">
                <a:solidFill>
                  <a:srgbClr val="1B75BC"/>
                </a:solidFill>
                <a:latin typeface="Montserrat Light"/>
                <a:ea typeface="Montserrat Light"/>
                <a:cs typeface="Montserrat Light"/>
                <a:sym typeface="Montserrat Light"/>
              </a:rPr>
              <a:t>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2462404" y="4200235"/>
            <a:ext cx="13363191" cy="1759691"/>
          </a:xfrm>
          <a:prstGeom prst="rect">
            <a:avLst/>
          </a:prstGeom>
        </p:spPr>
        <p:txBody>
          <a:bodyPr anchor="t" rtlCol="false" tIns="0" lIns="0" bIns="0" rIns="0">
            <a:spAutoFit/>
          </a:bodyPr>
          <a:lstStyle/>
          <a:p>
            <a:pPr algn="ctr">
              <a:lnSpc>
                <a:spcPts val="13234"/>
              </a:lnSpc>
              <a:spcBef>
                <a:spcPct val="0"/>
              </a:spcBef>
            </a:pPr>
            <a:r>
              <a:rPr lang="en-US" b="true" sz="13234">
                <a:solidFill>
                  <a:srgbClr val="1B75BC"/>
                </a:solidFill>
                <a:latin typeface="Montserrat Bold"/>
                <a:ea typeface="Montserrat Bold"/>
                <a:cs typeface="Montserrat Bold"/>
                <a:sym typeface="Montserrat Bold"/>
              </a:rPr>
              <a:t>TEŞEKKÜRLER</a:t>
            </a:r>
          </a:p>
        </p:txBody>
      </p:sp>
      <p:sp>
        <p:nvSpPr>
          <p:cNvPr name="Freeform 3" id="3"/>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DFDFD"/>
        </a:solidFill>
      </p:bgPr>
    </p:bg>
    <p:spTree>
      <p:nvGrpSpPr>
        <p:cNvPr id="1" name=""/>
        <p:cNvGrpSpPr/>
        <p:nvPr/>
      </p:nvGrpSpPr>
      <p:grpSpPr>
        <a:xfrm>
          <a:off x="0" y="0"/>
          <a:ext cx="0" cy="0"/>
          <a:chOff x="0" y="0"/>
          <a:chExt cx="0" cy="0"/>
        </a:xfrm>
      </p:grpSpPr>
      <p:sp>
        <p:nvSpPr>
          <p:cNvPr name="TextBox 2" id="2"/>
          <p:cNvSpPr txBox="true"/>
          <p:nvPr/>
        </p:nvSpPr>
        <p:spPr>
          <a:xfrm rot="0">
            <a:off x="1414195" y="4517589"/>
            <a:ext cx="15459611" cy="1060451"/>
          </a:xfrm>
          <a:prstGeom prst="rect">
            <a:avLst/>
          </a:prstGeom>
        </p:spPr>
        <p:txBody>
          <a:bodyPr anchor="t" rtlCol="false" tIns="0" lIns="0" bIns="0" rIns="0">
            <a:spAutoFit/>
          </a:bodyPr>
          <a:lstStyle/>
          <a:p>
            <a:pPr algn="ctr">
              <a:lnSpc>
                <a:spcPts val="8000"/>
              </a:lnSpc>
              <a:spcBef>
                <a:spcPct val="0"/>
              </a:spcBef>
            </a:pPr>
            <a:r>
              <a:rPr lang="en-US" b="true" sz="8000">
                <a:solidFill>
                  <a:srgbClr val="1B75BC"/>
                </a:solidFill>
                <a:latin typeface="Montserrat Bold"/>
                <a:ea typeface="Montserrat Bold"/>
                <a:cs typeface="Montserrat Bold"/>
                <a:sym typeface="Montserrat Bold"/>
              </a:rPr>
              <a:t>SORULARINIZI BEKLİYORUM</a:t>
            </a:r>
          </a:p>
        </p:txBody>
      </p:sp>
      <p:sp>
        <p:nvSpPr>
          <p:cNvPr name="Freeform 3" id="3"/>
          <p:cNvSpPr/>
          <p:nvPr/>
        </p:nvSpPr>
        <p:spPr>
          <a:xfrm flipH="false" flipV="true" rot="0">
            <a:off x="-288351" y="-205820"/>
            <a:ext cx="3722204" cy="4738916"/>
          </a:xfrm>
          <a:custGeom>
            <a:avLst/>
            <a:gdLst/>
            <a:ahLst/>
            <a:cxnLst/>
            <a:rect r="r" b="b" t="t" l="l"/>
            <a:pathLst>
              <a:path h="4738916" w="3722204">
                <a:moveTo>
                  <a:pt x="0" y="4738916"/>
                </a:moveTo>
                <a:lnTo>
                  <a:pt x="3722204" y="4738916"/>
                </a:lnTo>
                <a:lnTo>
                  <a:pt x="3722204" y="0"/>
                </a:lnTo>
                <a:lnTo>
                  <a:pt x="0" y="0"/>
                </a:lnTo>
                <a:lnTo>
                  <a:pt x="0" y="473891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4364277" y="5266265"/>
            <a:ext cx="4325796" cy="5507379"/>
          </a:xfrm>
          <a:custGeom>
            <a:avLst/>
            <a:gdLst/>
            <a:ahLst/>
            <a:cxnLst/>
            <a:rect r="r" b="b" t="t" l="l"/>
            <a:pathLst>
              <a:path h="5507379" w="4325796">
                <a:moveTo>
                  <a:pt x="4325796" y="0"/>
                </a:moveTo>
                <a:lnTo>
                  <a:pt x="0" y="0"/>
                </a:lnTo>
                <a:lnTo>
                  <a:pt x="0" y="5507379"/>
                </a:lnTo>
                <a:lnTo>
                  <a:pt x="4325796" y="5507379"/>
                </a:lnTo>
                <a:lnTo>
                  <a:pt x="4325796"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8838016"/>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5454177" y="1028700"/>
            <a:ext cx="1805123" cy="617024"/>
          </a:xfrm>
          <a:custGeom>
            <a:avLst/>
            <a:gdLst/>
            <a:ahLst/>
            <a:cxnLst/>
            <a:rect r="r" b="b" t="t" l="l"/>
            <a:pathLst>
              <a:path h="617024" w="1805123">
                <a:moveTo>
                  <a:pt x="0" y="0"/>
                </a:moveTo>
                <a:lnTo>
                  <a:pt x="1805123" y="0"/>
                </a:lnTo>
                <a:lnTo>
                  <a:pt x="1805123" y="617024"/>
                </a:lnTo>
                <a:lnTo>
                  <a:pt x="0" y="61702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DAGptQK2pRg</dc:identifier>
  <dcterms:modified xsi:type="dcterms:W3CDTF">2011-08-01T06:04:30Z</dcterms:modified>
  <cp:revision>1</cp:revision>
  <dc:title>Blue and White Illustrative Group Project Presentation</dc:title>
</cp:coreProperties>
</file>